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4" r:id="rId6"/>
  </p:sldIdLst>
  <p:sldSz cx="14630400" cy="8229600"/>
  <p:notesSz cx="8229600" cy="146304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Raleway Medium" panose="020B0604020202020204" charset="0"/>
      <p:regular r:id="rId12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7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0105" autoAdjust="0"/>
  </p:normalViewPr>
  <p:slideViewPr>
    <p:cSldViewPr snapToGrid="0" snapToObjects="1">
      <p:cViewPr varScale="1">
        <p:scale>
          <a:sx n="46" d="100"/>
          <a:sy n="46" d="100"/>
        </p:scale>
        <p:origin x="10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410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/>
              <a:t>Hola, soy Julio Úbeda Quesada, estudiante del Máster en Ciencia de Datos de la UOC, y hoy te voy a exponer mi comentario critico sobre el articulo </a:t>
            </a:r>
            <a:r>
              <a:rPr lang="en-US" dirty="0" smtClean="0"/>
              <a:t>A Scalable Tree Boosting System.</a:t>
            </a:r>
            <a:endParaRPr lang="es-E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 smtClean="0"/>
              <a:t>XGBoost</a:t>
            </a:r>
            <a:r>
              <a:rPr lang="es-ES" dirty="0" smtClean="0"/>
              <a:t> es un sistema de </a:t>
            </a:r>
            <a:r>
              <a:rPr lang="es-ES" dirty="0" err="1" smtClean="0"/>
              <a:t>tree</a:t>
            </a:r>
            <a:r>
              <a:rPr lang="es-ES" dirty="0" smtClean="0"/>
              <a:t> </a:t>
            </a:r>
            <a:r>
              <a:rPr lang="es-ES" dirty="0" err="1" smtClean="0"/>
              <a:t>boosting</a:t>
            </a:r>
            <a:r>
              <a:rPr lang="es-ES" dirty="0" smtClean="0"/>
              <a:t> publicado en 2016 que revolucionó el machine </a:t>
            </a:r>
            <a:r>
              <a:rPr lang="es-ES" dirty="0" err="1" smtClean="0"/>
              <a:t>learning</a:t>
            </a:r>
            <a:r>
              <a:rPr lang="es-ES" dirty="0" smtClean="0"/>
              <a:t> competitivo, resolviendo el problema de escalabilidad de los métodos tradicionales de </a:t>
            </a:r>
            <a:r>
              <a:rPr lang="es-ES" dirty="0" err="1" smtClean="0"/>
              <a:t>gradient</a:t>
            </a:r>
            <a:r>
              <a:rPr lang="es-ES" dirty="0" smtClean="0"/>
              <a:t> </a:t>
            </a:r>
            <a:r>
              <a:rPr lang="es-ES" dirty="0" err="1" smtClean="0"/>
              <a:t>boosting</a:t>
            </a:r>
            <a:r>
              <a:rPr lang="es-ES" baseline="0" dirty="0" smtClean="0"/>
              <a:t> y</a:t>
            </a:r>
            <a:r>
              <a:rPr lang="es-ES" dirty="0" smtClean="0"/>
              <a:t> permitiendo procesar billones de ejemplos de forma eficiente."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 "El artículo introduce tres innovaciones clave: primero, un algoritmo que maneja datos </a:t>
            </a:r>
            <a:r>
              <a:rPr lang="es-ES" dirty="0" err="1" smtClean="0"/>
              <a:t>sparse</a:t>
            </a:r>
            <a:r>
              <a:rPr lang="es-ES" dirty="0" smtClean="0"/>
              <a:t> 50 veces más rápido; segundo, un método teóricamente justificado para aproximar </a:t>
            </a:r>
            <a:r>
              <a:rPr lang="es-ES" dirty="0" err="1" smtClean="0"/>
              <a:t>cuantiles</a:t>
            </a:r>
            <a:r>
              <a:rPr lang="es-ES" dirty="0" smtClean="0"/>
              <a:t> en datos ponderados; y tercero, optimizaciones a nivel de sistema como estructuras cache-</a:t>
            </a:r>
            <a:r>
              <a:rPr lang="es-ES" dirty="0" err="1" smtClean="0"/>
              <a:t>aware</a:t>
            </a:r>
            <a:r>
              <a:rPr lang="es-ES" dirty="0" smtClean="0"/>
              <a:t> y compresión de bloques que permiten procesar datos que no caben en memoria."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"</a:t>
            </a:r>
            <a:r>
              <a:rPr lang="es-ES" dirty="0" err="1" smtClean="0"/>
              <a:t>XGBoost</a:t>
            </a:r>
            <a:r>
              <a:rPr lang="es-ES" dirty="0" smtClean="0"/>
              <a:t> conecta directamente con el tema de </a:t>
            </a:r>
            <a:r>
              <a:rPr lang="es-ES" dirty="0" err="1" smtClean="0"/>
              <a:t>Gradient</a:t>
            </a:r>
            <a:r>
              <a:rPr lang="es-ES" dirty="0" smtClean="0"/>
              <a:t> </a:t>
            </a:r>
            <a:r>
              <a:rPr lang="es-ES" dirty="0" err="1" smtClean="0"/>
              <a:t>Boosting</a:t>
            </a:r>
            <a:r>
              <a:rPr lang="es-ES" dirty="0" smtClean="0"/>
              <a:t> que vimos en clase. Mientras que el </a:t>
            </a:r>
            <a:r>
              <a:rPr lang="es-ES" dirty="0" err="1" smtClean="0"/>
              <a:t>Gradient</a:t>
            </a:r>
            <a:r>
              <a:rPr lang="es-ES" dirty="0" smtClean="0"/>
              <a:t> </a:t>
            </a:r>
            <a:r>
              <a:rPr lang="es-ES" dirty="0" err="1" smtClean="0"/>
              <a:t>Boosting</a:t>
            </a:r>
            <a:r>
              <a:rPr lang="es-ES" dirty="0" smtClean="0"/>
              <a:t> básico construye árboles secuencialmente minimizando el error, </a:t>
            </a:r>
            <a:r>
              <a:rPr lang="es-ES" dirty="0" err="1" smtClean="0"/>
              <a:t>XGBoost</a:t>
            </a:r>
            <a:r>
              <a:rPr lang="es-ES" dirty="0" smtClean="0"/>
              <a:t> añade regularización explícita en su función objetivo para evitar </a:t>
            </a:r>
            <a:r>
              <a:rPr lang="es-ES" dirty="0" err="1" smtClean="0"/>
              <a:t>overfitting</a:t>
            </a:r>
            <a:r>
              <a:rPr lang="es-ES" dirty="0" smtClean="0"/>
              <a:t>. Además, implementa las técnicas que estudiamos: </a:t>
            </a:r>
            <a:r>
              <a:rPr lang="es-ES" dirty="0" err="1" smtClean="0"/>
              <a:t>shrinkage</a:t>
            </a:r>
            <a:r>
              <a:rPr lang="es-ES" dirty="0" smtClean="0"/>
              <a:t> para reducir la influencia de cada árbol individual, y </a:t>
            </a:r>
            <a:r>
              <a:rPr lang="es-ES" dirty="0" err="1" smtClean="0"/>
              <a:t>column</a:t>
            </a:r>
            <a:r>
              <a:rPr lang="es-ES" dirty="0" smtClean="0"/>
              <a:t> </a:t>
            </a:r>
            <a:r>
              <a:rPr lang="es-ES" dirty="0" err="1" smtClean="0"/>
              <a:t>subsampling</a:t>
            </a:r>
            <a:r>
              <a:rPr lang="es-ES" dirty="0" smtClean="0"/>
              <a:t> similar a </a:t>
            </a:r>
            <a:r>
              <a:rPr lang="es-ES" dirty="0" err="1" smtClean="0"/>
              <a:t>Random</a:t>
            </a:r>
            <a:r>
              <a:rPr lang="es-ES" dirty="0" smtClean="0"/>
              <a:t> </a:t>
            </a:r>
            <a:r>
              <a:rPr lang="es-ES" dirty="0" err="1" smtClean="0"/>
              <a:t>Forest</a:t>
            </a:r>
            <a:r>
              <a:rPr lang="es-ES" dirty="0" smtClean="0"/>
              <a:t>. Lo realmente innovador es que combina estos conceptos teóricos con optimizaciones de sistema que lo hacen 10 veces más rápido que implementaciones previas."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"Este artículo me ha enseñado tres lecciones importantes. </a:t>
            </a:r>
          </a:p>
          <a:p>
            <a:endParaRPr lang="es-ES" dirty="0" smtClean="0"/>
          </a:p>
          <a:p>
            <a:r>
              <a:rPr lang="es-ES" dirty="0" smtClean="0"/>
              <a:t>Primero, que un buen algoritmo necesita una buena implementación: las optimizaciones de cache y memoria son tan importantes como la matemática detrás. </a:t>
            </a:r>
          </a:p>
          <a:p>
            <a:endParaRPr lang="es-ES" dirty="0" smtClean="0"/>
          </a:p>
          <a:p>
            <a:r>
              <a:rPr lang="es-ES" dirty="0" smtClean="0"/>
              <a:t>Segundo, cómo los conceptos teóricos que estudiamos como regularización y </a:t>
            </a:r>
            <a:r>
              <a:rPr lang="es-ES" dirty="0" err="1" smtClean="0"/>
              <a:t>boosting</a:t>
            </a:r>
            <a:r>
              <a:rPr lang="es-ES" dirty="0" smtClean="0"/>
              <a:t> se traducen a herramientas reales y efectivas. </a:t>
            </a:r>
          </a:p>
          <a:p>
            <a:endParaRPr lang="es-ES" dirty="0" smtClean="0"/>
          </a:p>
          <a:p>
            <a:r>
              <a:rPr lang="es-ES" dirty="0" smtClean="0"/>
              <a:t>Y tercero, el impacto que puede tener el software open </a:t>
            </a:r>
            <a:r>
              <a:rPr lang="es-ES" dirty="0" err="1" smtClean="0"/>
              <a:t>source</a:t>
            </a:r>
            <a:r>
              <a:rPr lang="es-ES" dirty="0" smtClean="0"/>
              <a:t> bien diseñado: </a:t>
            </a:r>
            <a:r>
              <a:rPr lang="es-ES" dirty="0" err="1" smtClean="0"/>
              <a:t>XGBoost</a:t>
            </a:r>
            <a:r>
              <a:rPr lang="es-ES" dirty="0" smtClean="0"/>
              <a:t> pasó de ser un proyecto académico a la herramienta estándar en la industria, procesando datos a escala que antes era imposible con recursos limitados."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3046333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XGBoost: A Scalable Tree Boosting System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478821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Tianqi Chen y Carlos Guestrin, Universidad de Washington, 2016</a:t>
            </a:r>
            <a:endParaRPr lang="en-US" sz="1900" dirty="0"/>
          </a:p>
        </p:txBody>
      </p:sp>
      <p:sp>
        <p:nvSpPr>
          <p:cNvPr id="5" name="Rectángulo 4"/>
          <p:cNvSpPr/>
          <p:nvPr/>
        </p:nvSpPr>
        <p:spPr>
          <a:xfrm>
            <a:off x="12857356" y="7761249"/>
            <a:ext cx="1672683" cy="379141"/>
          </a:xfrm>
          <a:prstGeom prst="rect">
            <a:avLst/>
          </a:prstGeom>
          <a:solidFill>
            <a:srgbClr val="27272B"/>
          </a:solidFill>
          <a:ln>
            <a:solidFill>
              <a:srgbClr val="2727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150EC1-ED4F-4543-8684-19677895BE43}"/>
              </a:ext>
            </a:extLst>
          </p:cNvPr>
          <p:cNvSpPr txBox="1"/>
          <p:nvPr/>
        </p:nvSpPr>
        <p:spPr>
          <a:xfrm>
            <a:off x="10484200" y="7391917"/>
            <a:ext cx="40458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</a:rPr>
              <a:t>Julio Úbeda Quesada</a:t>
            </a:r>
          </a:p>
          <a:p>
            <a:pPr algn="r"/>
            <a:r>
              <a:rPr lang="es-ES" sz="1400" dirty="0">
                <a:solidFill>
                  <a:schemeClr val="bg1"/>
                </a:solidFill>
              </a:rPr>
              <a:t>Máster Universitario de Ciencia de Datos de la UOC</a:t>
            </a:r>
          </a:p>
          <a:p>
            <a:pPr algn="r"/>
            <a:r>
              <a:rPr lang="es-ES" sz="1400" dirty="0">
                <a:solidFill>
                  <a:schemeClr val="bg1"/>
                </a:solidFill>
              </a:rPr>
              <a:t>PEC </a:t>
            </a:r>
            <a:r>
              <a:rPr lang="es-ES" sz="1400" dirty="0" smtClean="0">
                <a:solidFill>
                  <a:schemeClr val="bg1"/>
                </a:solidFill>
              </a:rPr>
              <a:t>5 </a:t>
            </a:r>
            <a:r>
              <a:rPr lang="es-ES" sz="1400" dirty="0">
                <a:solidFill>
                  <a:schemeClr val="bg1"/>
                </a:solidFill>
              </a:rPr>
              <a:t>– </a:t>
            </a:r>
            <a:r>
              <a:rPr lang="es-ES" sz="1400" dirty="0" smtClean="0">
                <a:solidFill>
                  <a:schemeClr val="bg1"/>
                </a:solidFill>
              </a:rPr>
              <a:t>Aprendizaje automático</a:t>
            </a:r>
            <a:endParaRPr lang="es-E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584722" y="1189315"/>
            <a:ext cx="11460956" cy="1132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El Problema de Escalabilidad en Gradient Boosting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1584722" y="2831425"/>
            <a:ext cx="2676287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Desafíos Tradicionales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84722" y="3318272"/>
            <a:ext cx="6677620" cy="1304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Los métodos clásicos de gradient boosting enfrentaban limitaciones críticas al procesar grandes volúmenes de datos. La velocidad de entrenamiento se degradaba significativamente y los recursos computacionales se volvían prohibitivos en datasets masivos.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84722" y="5458659"/>
            <a:ext cx="2264926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Impacto Inmediato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84722" y="5945505"/>
            <a:ext cx="6677620" cy="97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 2015, antes incluso de su publicación oficial, 17 de las 29 soluciones ganadoras en competiciones Kaggle ya utilizaban XGBoost, demostrando su superioridad práctica.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767167" y="2958822"/>
            <a:ext cx="4286012" cy="672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17/29</a:t>
            </a:r>
            <a:endParaRPr lang="en-US" sz="5250" dirty="0"/>
          </a:p>
        </p:txBody>
      </p:sp>
      <p:sp>
        <p:nvSpPr>
          <p:cNvPr id="10" name="Text 8"/>
          <p:cNvSpPr/>
          <p:nvPr/>
        </p:nvSpPr>
        <p:spPr>
          <a:xfrm>
            <a:off x="9594771" y="3886319"/>
            <a:ext cx="2630805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Competiciones Kaggle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767167" y="4373166"/>
            <a:ext cx="4286012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Soluciones ganadoras usando XGBoost en 2015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7167" y="5534978"/>
            <a:ext cx="4286012" cy="672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10x</a:t>
            </a:r>
            <a:endParaRPr lang="en-US" sz="5250" dirty="0"/>
          </a:p>
        </p:txBody>
      </p:sp>
      <p:sp>
        <p:nvSpPr>
          <p:cNvPr id="13" name="Text 11"/>
          <p:cNvSpPr/>
          <p:nvPr/>
        </p:nvSpPr>
        <p:spPr>
          <a:xfrm>
            <a:off x="9698355" y="6462474"/>
            <a:ext cx="2423636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Mejora en Velocidad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767167" y="6949321"/>
            <a:ext cx="4286012" cy="326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Más rápido que implementaciones previas</a:t>
            </a:r>
            <a:endParaRPr lang="en-US" sz="1600" dirty="0"/>
          </a:p>
        </p:txBody>
      </p:sp>
      <p:sp>
        <p:nvSpPr>
          <p:cNvPr id="15" name="Rectángulo 14"/>
          <p:cNvSpPr/>
          <p:nvPr/>
        </p:nvSpPr>
        <p:spPr>
          <a:xfrm>
            <a:off x="12857356" y="7761249"/>
            <a:ext cx="1672683" cy="379141"/>
          </a:xfrm>
          <a:prstGeom prst="rect">
            <a:avLst/>
          </a:prstGeom>
          <a:solidFill>
            <a:srgbClr val="27272B"/>
          </a:solidFill>
          <a:ln>
            <a:solidFill>
              <a:srgbClr val="2727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2567" y="1826895"/>
            <a:ext cx="5454253" cy="422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Tres Revoluciones Algorítmicas</a:t>
            </a:r>
            <a:endParaRPr lang="en-US" sz="2650" dirty="0"/>
          </a:p>
        </p:txBody>
      </p:sp>
      <p:sp>
        <p:nvSpPr>
          <p:cNvPr id="7" name="Shape 3"/>
          <p:cNvSpPr/>
          <p:nvPr/>
        </p:nvSpPr>
        <p:spPr>
          <a:xfrm>
            <a:off x="532567" y="2477929"/>
            <a:ext cx="3963352" cy="2432328"/>
          </a:xfrm>
          <a:prstGeom prst="roundRect">
            <a:avLst>
              <a:gd name="adj" fmla="val 9386"/>
            </a:avLst>
          </a:prstGeom>
          <a:solidFill>
            <a:srgbClr val="46464A"/>
          </a:solidFill>
          <a:ln/>
        </p:spPr>
      </p:sp>
      <p:sp>
        <p:nvSpPr>
          <p:cNvPr id="8" name="Shape 4"/>
          <p:cNvSpPr/>
          <p:nvPr/>
        </p:nvSpPr>
        <p:spPr>
          <a:xfrm>
            <a:off x="684728" y="2630091"/>
            <a:ext cx="456486" cy="456486"/>
          </a:xfrm>
          <a:prstGeom prst="roundRect">
            <a:avLst>
              <a:gd name="adj" fmla="val 20029279"/>
            </a:avLst>
          </a:prstGeom>
          <a:solidFill>
            <a:srgbClr val="FFE14D"/>
          </a:solidFill>
          <a:ln/>
        </p:spPr>
      </p:sp>
      <p:sp>
        <p:nvSpPr>
          <p:cNvPr id="10" name="Text 5"/>
          <p:cNvSpPr/>
          <p:nvPr/>
        </p:nvSpPr>
        <p:spPr>
          <a:xfrm>
            <a:off x="684728" y="3238738"/>
            <a:ext cx="2238018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Sparsity-Aware Algorithm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84728" y="3541276"/>
            <a:ext cx="3659029" cy="1216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Manejo inteligente de valores faltantes que aprende automáticamente la mejor dirección por defecto para cada split. Rendimiento 50 veces superior en datos sparse, como los generados por one-hot encoding.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4648081" y="2477929"/>
            <a:ext cx="3963352" cy="2432328"/>
          </a:xfrm>
          <a:prstGeom prst="roundRect">
            <a:avLst>
              <a:gd name="adj" fmla="val 9386"/>
            </a:avLst>
          </a:prstGeom>
          <a:solidFill>
            <a:srgbClr val="46464A"/>
          </a:solidFill>
          <a:ln/>
        </p:spPr>
      </p:sp>
      <p:sp>
        <p:nvSpPr>
          <p:cNvPr id="13" name="Shape 8"/>
          <p:cNvSpPr/>
          <p:nvPr/>
        </p:nvSpPr>
        <p:spPr>
          <a:xfrm>
            <a:off x="4800243" y="2630091"/>
            <a:ext cx="456486" cy="456486"/>
          </a:xfrm>
          <a:prstGeom prst="roundRect">
            <a:avLst>
              <a:gd name="adj" fmla="val 20029279"/>
            </a:avLst>
          </a:prstGeom>
          <a:solidFill>
            <a:srgbClr val="FFE14D"/>
          </a:solidFill>
          <a:ln/>
        </p:spPr>
      </p:sp>
      <p:sp>
        <p:nvSpPr>
          <p:cNvPr id="15" name="Text 9"/>
          <p:cNvSpPr/>
          <p:nvPr/>
        </p:nvSpPr>
        <p:spPr>
          <a:xfrm>
            <a:off x="4800243" y="3238738"/>
            <a:ext cx="2276951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Weighted Quantile Sketch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800243" y="3541276"/>
            <a:ext cx="3659029" cy="973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Primera solución teóricamente justificada para aproximar cuantiles en datos ponderados. Encuentra split points óptimos de forma eficiente manteniendo garantías matemáticas rigurosas.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32567" y="5062418"/>
            <a:ext cx="8078867" cy="1702237"/>
          </a:xfrm>
          <a:prstGeom prst="roundRect">
            <a:avLst>
              <a:gd name="adj" fmla="val 13411"/>
            </a:avLst>
          </a:prstGeom>
          <a:solidFill>
            <a:srgbClr val="46464A"/>
          </a:solidFill>
          <a:ln/>
        </p:spPr>
      </p:sp>
      <p:sp>
        <p:nvSpPr>
          <p:cNvPr id="18" name="Shape 12"/>
          <p:cNvSpPr/>
          <p:nvPr/>
        </p:nvSpPr>
        <p:spPr>
          <a:xfrm>
            <a:off x="684728" y="5214580"/>
            <a:ext cx="456486" cy="456486"/>
          </a:xfrm>
          <a:prstGeom prst="roundRect">
            <a:avLst>
              <a:gd name="adj" fmla="val 20029279"/>
            </a:avLst>
          </a:prstGeom>
          <a:solidFill>
            <a:srgbClr val="FFE14D"/>
          </a:solidFill>
          <a:ln/>
        </p:spPr>
      </p:sp>
      <p:sp>
        <p:nvSpPr>
          <p:cNvPr id="20" name="Text 13"/>
          <p:cNvSpPr/>
          <p:nvPr/>
        </p:nvSpPr>
        <p:spPr>
          <a:xfrm>
            <a:off x="684728" y="5823228"/>
            <a:ext cx="2746891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Cache-Aware &amp; Block Structure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84728" y="6125766"/>
            <a:ext cx="7774543" cy="48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Optimizaciones a nivel de sistema con datos organizados en bloques comprimidos, prefetching inteligente y computación out-of-core que permite procesar datasets que exceden la memoria RAM disponible.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2965" y="1226701"/>
            <a:ext cx="12004392" cy="676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Relación con Combinación de </a:t>
            </a:r>
            <a:r>
              <a:rPr lang="en-US" sz="4250" b="1" dirty="0" err="1" smtClean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Modelos</a:t>
            </a:r>
            <a:r>
              <a:rPr lang="en-US" sz="4250" b="1" dirty="0" smtClean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–PEC 4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852964" y="2269212"/>
            <a:ext cx="12924473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XGBoost materializa los conceptos teóricos del Bloque 4, integrando gradient boosting con regularización avanzada y optimizaciones de sistema.</a:t>
            </a:r>
            <a:endParaRPr lang="en-US" sz="1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64" y="3323153"/>
            <a:ext cx="4308158" cy="9748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6685" y="4541758"/>
            <a:ext cx="3710940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Gradient Boosting Clásico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96685" y="5026462"/>
            <a:ext cx="3820716" cy="1949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Construcción secuencial de árboles donde cada modelo corrige los errores residuales del anterior, minimizando una función de pérdida.</a:t>
            </a:r>
            <a:endParaRPr lang="en-US" sz="1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121" y="3323153"/>
            <a:ext cx="4308158" cy="9748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04842" y="4541758"/>
            <a:ext cx="3405068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Regularización Explícita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5404842" y="5026462"/>
            <a:ext cx="3820716" cy="1949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Término Ω(f) = γT + ½λ‖w‖² añadido a la función objetivo que penaliza la complejidad del modelo (número de hojas y magnitud de pesos).</a:t>
            </a:r>
            <a:endParaRPr lang="en-US" sz="1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9279" y="3323153"/>
            <a:ext cx="4308158" cy="9748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13000" y="4541758"/>
            <a:ext cx="3820716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Optimizaciones de Sistema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9713000" y="5364956"/>
            <a:ext cx="3820716" cy="1949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Implementación eficiente con paralelización, gestión inteligente de cache, y capacidades de computación distribuida.</a:t>
            </a:r>
            <a:endParaRPr lang="en-US" sz="1900" dirty="0"/>
          </a:p>
        </p:txBody>
      </p:sp>
      <p:sp>
        <p:nvSpPr>
          <p:cNvPr id="15" name="Rectángulo 14"/>
          <p:cNvSpPr/>
          <p:nvPr/>
        </p:nvSpPr>
        <p:spPr>
          <a:xfrm>
            <a:off x="12857356" y="7761249"/>
            <a:ext cx="1672683" cy="379141"/>
          </a:xfrm>
          <a:prstGeom prst="rect">
            <a:avLst/>
          </a:prstGeom>
          <a:solidFill>
            <a:srgbClr val="27272B"/>
          </a:solidFill>
          <a:ln>
            <a:solidFill>
              <a:srgbClr val="2727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861655" y="1238131"/>
            <a:ext cx="12141160" cy="68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Tres Pilares del Éxito en Machine Learning</a:t>
            </a:r>
            <a:endParaRPr lang="en-US" sz="4300" dirty="0"/>
          </a:p>
        </p:txBody>
      </p:sp>
      <p:sp>
        <p:nvSpPr>
          <p:cNvPr id="6" name="Shape 3"/>
          <p:cNvSpPr/>
          <p:nvPr/>
        </p:nvSpPr>
        <p:spPr>
          <a:xfrm>
            <a:off x="861655" y="2291120"/>
            <a:ext cx="4138255" cy="5262324"/>
          </a:xfrm>
          <a:prstGeom prst="roundRect">
            <a:avLst>
              <a:gd name="adj" fmla="val 8924"/>
            </a:avLst>
          </a:prstGeom>
          <a:solidFill>
            <a:srgbClr val="46464A"/>
          </a:solidFill>
          <a:ln/>
        </p:spPr>
      </p:sp>
      <p:sp>
        <p:nvSpPr>
          <p:cNvPr id="7" name="Text 4"/>
          <p:cNvSpPr/>
          <p:nvPr/>
        </p:nvSpPr>
        <p:spPr>
          <a:xfrm>
            <a:off x="1107758" y="2537222"/>
            <a:ext cx="3646051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1. Diseño de Sistemas Holístico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107758" y="3368754"/>
            <a:ext cx="3646051" cy="393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Los algoritmos elegantes necesitan implementaciones brillantes. Las optimizaciones de cache, gestión de memoria y paralelización son tan críticas como la matemática subyacente. XGBoost demuestra que la escalabilidad real requiere pensar en todo el stack tecnológico.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246013" y="2291120"/>
            <a:ext cx="4138255" cy="5262324"/>
          </a:xfrm>
          <a:prstGeom prst="roundRect">
            <a:avLst>
              <a:gd name="adj" fmla="val 8924"/>
            </a:avLst>
          </a:prstGeom>
          <a:solidFill>
            <a:srgbClr val="46464A"/>
          </a:solidFill>
          <a:ln/>
        </p:spPr>
      </p:sp>
      <p:sp>
        <p:nvSpPr>
          <p:cNvPr id="10" name="Text 7"/>
          <p:cNvSpPr/>
          <p:nvPr/>
        </p:nvSpPr>
        <p:spPr>
          <a:xfrm>
            <a:off x="5492115" y="2537222"/>
            <a:ext cx="3557230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2. Puente Teoría-Práctica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5492115" y="3026807"/>
            <a:ext cx="3646051" cy="315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Conceptos académicos como regularización, boosting y aproximaciones de Taylor se transforman en herramientas de producción. El valor está en traducir ideas abstractas a software robusto y usable que resuelva problemas reales.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9630370" y="2291120"/>
            <a:ext cx="4138374" cy="5262324"/>
          </a:xfrm>
          <a:prstGeom prst="roundRect">
            <a:avLst>
              <a:gd name="adj" fmla="val 8924"/>
            </a:avLst>
          </a:prstGeom>
          <a:solidFill>
            <a:srgbClr val="46464A"/>
          </a:solidFill>
          <a:ln/>
        </p:spPr>
      </p:sp>
      <p:sp>
        <p:nvSpPr>
          <p:cNvPr id="13" name="Text 10"/>
          <p:cNvSpPr/>
          <p:nvPr/>
        </p:nvSpPr>
        <p:spPr>
          <a:xfrm>
            <a:off x="9876473" y="2537222"/>
            <a:ext cx="3646170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3. Impacto del Open Source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9876473" y="3368754"/>
            <a:ext cx="3646170" cy="3544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XGBoost procesó 1.7 billones de ejemplos con solo 4 máquinas y pasó de proyecto académico a estándar industrial. El software bien diseñado y abierto democratiza el acceso a técnicas avanzadas y acelera la innovación colectiva.</a:t>
            </a:r>
            <a:endParaRPr lang="en-US" sz="1900" dirty="0"/>
          </a:p>
        </p:txBody>
      </p:sp>
      <p:sp>
        <p:nvSpPr>
          <p:cNvPr id="15" name="Rectángulo 14"/>
          <p:cNvSpPr/>
          <p:nvPr/>
        </p:nvSpPr>
        <p:spPr>
          <a:xfrm>
            <a:off x="12857356" y="7761249"/>
            <a:ext cx="1672683" cy="379141"/>
          </a:xfrm>
          <a:prstGeom prst="rect">
            <a:avLst/>
          </a:prstGeom>
          <a:solidFill>
            <a:srgbClr val="27272B"/>
          </a:solidFill>
          <a:ln>
            <a:solidFill>
              <a:srgbClr val="27272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781</Words>
  <Application>Microsoft Office PowerPoint</Application>
  <PresentationFormat>Personalizado</PresentationFormat>
  <Paragraphs>54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Calibri</vt:lpstr>
      <vt:lpstr>Arial</vt:lpstr>
      <vt:lpstr>Raleway Medium</vt:lpstr>
      <vt:lpstr>Comfortaa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Ubeda Quesada, Julio</cp:lastModifiedBy>
  <cp:revision>6</cp:revision>
  <dcterms:created xsi:type="dcterms:W3CDTF">2026-01-12T09:30:44Z</dcterms:created>
  <dcterms:modified xsi:type="dcterms:W3CDTF">2026-01-12T12:47:00Z</dcterms:modified>
</cp:coreProperties>
</file>